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62" r:id="rId3"/>
    <p:sldId id="263" r:id="rId4"/>
  </p:sldIdLst>
  <p:sldSz cx="9144000" cy="5143500" type="screen16x9"/>
  <p:notesSz cx="6858000" cy="9144000"/>
  <p:embeddedFontLst>
    <p:embeddedFont>
      <p:font typeface="Lato" panose="020F0502020204030203" pitchFamily="34" charset="0"/>
      <p:regular r:id="rId6"/>
      <p:bold r:id="rId7"/>
      <p:italic r:id="rId8"/>
      <p:boldItalic r:id="rId9"/>
    </p:embeddedFont>
    <p:embeddedFont>
      <p:font typeface="Raleway" pitchFamily="2" charset="77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ura Estill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67"/>
    <p:restoredTop sz="94729"/>
  </p:normalViewPr>
  <p:slideViewPr>
    <p:cSldViewPr snapToGrid="0">
      <p:cViewPr varScale="1">
        <p:scale>
          <a:sx n="149" d="100"/>
          <a:sy n="149" d="100"/>
        </p:scale>
        <p:origin x="48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6dfe117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6dfe117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6dfe117c6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6dfe117c6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ccdhhn.ca/fr/" TargetMode="External"/><Relationship Id="rId4" Type="http://schemas.openxmlformats.org/officeDocument/2006/relationships/hyperlink" Target="https://ccdhhn.ca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C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55" y="365099"/>
            <a:ext cx="8393824" cy="196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DAD88-7ACC-D6A9-B51E-E85B2EF06552}"/>
              </a:ext>
            </a:extLst>
          </p:cNvPr>
          <p:cNvSpPr txBox="1"/>
          <p:nvPr/>
        </p:nvSpPr>
        <p:spPr>
          <a:xfrm>
            <a:off x="443455" y="2718843"/>
            <a:ext cx="76066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This workshop is eligible to count towards the Canadian Certificate for Digital Humanities (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cc:DH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/HN). If you’re interested in learning more about the certificate, visit </a:t>
            </a:r>
            <a:r>
              <a:rPr lang="en-CA" sz="1600" b="0" i="1" u="sng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  <a:hlinkClick r:id="rId4" tooltip="https://ccdhhn.ca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https://ccdhhn.ca/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.</a:t>
            </a:r>
            <a:endParaRPr lang="en-CA" b="0" i="0" u="none" strike="noStrike" dirty="0">
              <a:solidFill>
                <a:schemeClr val="bg2"/>
              </a:solidFill>
              <a:effectLst/>
              <a:latin typeface="Aptos" panose="020B0004020202020204" pitchFamily="34" charset="0"/>
            </a:endParaRPr>
          </a:p>
          <a:p>
            <a:pPr algn="l">
              <a:buNone/>
            </a:pPr>
            <a:r>
              <a:rPr lang="en-CA" sz="1600" b="0" i="0" u="none" strike="noStrike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CA" b="0" i="0" u="none" strike="noStrike" dirty="0">
              <a:solidFill>
                <a:schemeClr val="bg2"/>
              </a:solidFill>
              <a:effectLst/>
              <a:latin typeface="Aptos" panose="020B0004020202020204" pitchFamily="34" charset="0"/>
            </a:endParaRPr>
          </a:p>
          <a:p>
            <a:pPr algn="l"/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Cet atelier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est</a:t>
            </a:r>
            <a:r>
              <a:rPr lang="en-CA" sz="1600" b="0" i="1" u="none" strike="noStrike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 admissible 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au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Certificat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 Canadien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en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Humanités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 Numériques (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cc:DH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/HN). Si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vous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souhaitez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en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 savoir plus sur le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certificat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CA" sz="1600" b="0" i="1" u="none" strike="noStrike" dirty="0" err="1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visitez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CA" sz="1600" b="0" i="1" u="sng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  <a:hlinkClick r:id="rId5" tooltip="https://ccdhhn.ca/fr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https://ccdhhn.ca/fr/</a:t>
            </a:r>
            <a:r>
              <a:rPr lang="en-CA" sz="1600" b="0" i="1" u="none" strike="noStrike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.</a:t>
            </a:r>
            <a:endParaRPr lang="en-CA" b="0" i="0" u="none" strike="noStrike" dirty="0">
              <a:solidFill>
                <a:schemeClr val="bg2"/>
              </a:solidFill>
              <a:effectLst/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67500" y="559862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How do you earn a certificate?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●"/>
            </a:pPr>
            <a:r>
              <a:rPr lang="en" sz="2300" b="1" dirty="0">
                <a:solidFill>
                  <a:schemeClr val="lt2"/>
                </a:solidFill>
              </a:rPr>
              <a:t>100 hours of DH workshops (not for course credit) </a:t>
            </a:r>
            <a:endParaRPr sz="2300" b="1" dirty="0">
              <a:solidFill>
                <a:schemeClr val="lt2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●"/>
            </a:pPr>
            <a:r>
              <a:rPr lang="en" sz="2300" b="1" dirty="0">
                <a:solidFill>
                  <a:schemeClr val="lt2"/>
                </a:solidFill>
              </a:rPr>
              <a:t>60 hours completed in Canada</a:t>
            </a:r>
            <a:endParaRPr sz="2300" b="1" dirty="0">
              <a:solidFill>
                <a:schemeClr val="lt2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●"/>
            </a:pPr>
            <a:r>
              <a:rPr lang="en" sz="2300" b="1" dirty="0">
                <a:solidFill>
                  <a:schemeClr val="lt2"/>
                </a:solidFill>
              </a:rPr>
              <a:t>60 hours in-depth workshops (20 hours+ each)</a:t>
            </a:r>
            <a:endParaRPr sz="2300" b="1" dirty="0">
              <a:solidFill>
                <a:schemeClr val="lt2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●"/>
            </a:pPr>
            <a:r>
              <a:rPr lang="en" sz="2300" b="1" dirty="0">
                <a:solidFill>
                  <a:schemeClr val="lt2"/>
                </a:solidFill>
              </a:rPr>
              <a:t>5-year timespan</a:t>
            </a: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●"/>
            </a:pPr>
            <a:r>
              <a:rPr lang="en" sz="2300" b="1" dirty="0">
                <a:solidFill>
                  <a:schemeClr val="lt2"/>
                </a:solidFill>
              </a:rPr>
              <a:t>maximum of 30 asynchronous hours (no limit on virtual)</a:t>
            </a:r>
            <a:endParaRPr sz="2300" b="1" dirty="0">
              <a:solidFill>
                <a:schemeClr val="lt2"/>
              </a:solidFill>
            </a:endParaRPr>
          </a:p>
        </p:txBody>
      </p:sp>
      <p:pic>
        <p:nvPicPr>
          <p:cNvPr id="3" name="Picture 2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BDD88535-E17C-B284-87CA-9593457F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7662"/>
            <a:ext cx="4572000" cy="22458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document&#10;&#10;AI-generated content may be incorrect.">
            <a:extLst>
              <a:ext uri="{FF2B5EF4-FFF2-40B4-BE49-F238E27FC236}">
                <a16:creationId xmlns:a16="http://schemas.microsoft.com/office/drawing/2014/main" id="{8FC4277E-4C2A-3DE6-1632-CA47FF4A8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" y="0"/>
            <a:ext cx="91072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83786"/>
      </p:ext>
    </p:extLst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E1E1C6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120</Words>
  <Application>Microsoft Macintosh PowerPoint</Application>
  <PresentationFormat>On-screen Show (16:9)</PresentationFormat>
  <Paragraphs>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Lato</vt:lpstr>
      <vt:lpstr>Times New Roman</vt:lpstr>
      <vt:lpstr>Raleway</vt:lpstr>
      <vt:lpstr>Segoe UI</vt:lpstr>
      <vt:lpstr>Aptos</vt:lpstr>
      <vt:lpstr>Swiss</vt:lpstr>
      <vt:lpstr>PowerPoint Presentation</vt:lpstr>
      <vt:lpstr>How do you earn a certificate?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Laura Estill</cp:lastModifiedBy>
  <cp:revision>7</cp:revision>
  <dcterms:modified xsi:type="dcterms:W3CDTF">2025-09-05T16:05:27Z</dcterms:modified>
</cp:coreProperties>
</file>